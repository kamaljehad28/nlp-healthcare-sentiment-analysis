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07" autoAdjust="0"/>
    <p:restoredTop sz="94660"/>
  </p:normalViewPr>
  <p:slideViewPr>
    <p:cSldViewPr snapToGrid="0">
      <p:cViewPr varScale="1">
        <p:scale>
          <a:sx n="86" d="100"/>
          <a:sy n="86" d="100"/>
        </p:scale>
        <p:origin x="79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9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57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363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2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3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646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38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0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20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136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122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01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848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907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132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9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52" y="1426209"/>
            <a:ext cx="9448800" cy="1391478"/>
          </a:xfrm>
        </p:spPr>
        <p:txBody>
          <a:bodyPr/>
          <a:lstStyle/>
          <a:p>
            <a:r>
              <a:rPr lang="en-US" dirty="0" smtClean="0"/>
              <a:t>Sentiment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60567"/>
            <a:ext cx="8620539" cy="1138619"/>
          </a:xfrm>
        </p:spPr>
        <p:txBody>
          <a:bodyPr>
            <a:normAutofit/>
          </a:bodyPr>
          <a:lstStyle/>
          <a:p>
            <a:endParaRPr lang="en-US" sz="1600" dirty="0" smtClean="0"/>
          </a:p>
          <a:p>
            <a:r>
              <a:rPr lang="en-US" sz="1600" dirty="0" smtClean="0"/>
              <a:t>Done By </a:t>
            </a:r>
            <a:r>
              <a:rPr lang="en-US" sz="1600" dirty="0" smtClean="0"/>
              <a:t>:Zain </a:t>
            </a:r>
            <a:r>
              <a:rPr lang="en-US" sz="1600" dirty="0"/>
              <a:t>Dimes </a:t>
            </a:r>
            <a:r>
              <a:rPr lang="en-US" sz="1600" dirty="0" smtClean="0"/>
              <a:t>, </a:t>
            </a:r>
            <a:r>
              <a:rPr lang="en-US" sz="1600" dirty="0" smtClean="0"/>
              <a:t>Renad </a:t>
            </a:r>
            <a:r>
              <a:rPr lang="en-US" sz="1600" dirty="0" smtClean="0"/>
              <a:t>Imraiziq</a:t>
            </a:r>
            <a:r>
              <a:rPr lang="en-US" sz="1600" dirty="0"/>
              <a:t> </a:t>
            </a:r>
            <a:r>
              <a:rPr lang="en-US" sz="1600" dirty="0" smtClean="0"/>
              <a:t>, Kamal Hasan , Laith Aljallad</a:t>
            </a:r>
            <a:endParaRPr lang="en-US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116830"/>
              </p:ext>
            </p:extLst>
          </p:nvPr>
        </p:nvGraphicFramePr>
        <p:xfrm>
          <a:off x="1371600" y="2996057"/>
          <a:ext cx="5145157" cy="529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45157"/>
              </a:tblGrid>
              <a:tr h="52902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200" dirty="0" smtClean="0">
                          <a:effectLst/>
                        </a:rPr>
                        <a:t>Course: </a:t>
                      </a:r>
                      <a:r>
                        <a:rPr lang="en-US" sz="1200" dirty="0">
                          <a:effectLst/>
                        </a:rPr>
                        <a:t>Natural Language Processing And Pattern </a:t>
                      </a:r>
                      <a:r>
                        <a:rPr lang="en-US" sz="1200" dirty="0" smtClean="0">
                          <a:effectLst/>
                        </a:rPr>
                        <a:t>Recognition</a:t>
                      </a:r>
                      <a:r>
                        <a:rPr lang="en-US" sz="1200" dirty="0">
                          <a:effectLst/>
                        </a:rPr>
                        <a:t>	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200" dirty="0">
                          <a:effectLst/>
                        </a:rPr>
                        <a:t>Instructor: Dr.Mohammad </a:t>
                      </a:r>
                      <a:r>
                        <a:rPr lang="en-US" sz="1400" dirty="0">
                          <a:effectLst/>
                        </a:rPr>
                        <a:t>Bani</a:t>
                      </a:r>
                      <a:r>
                        <a:rPr lang="en-US" sz="1200" dirty="0">
                          <a:effectLst/>
                        </a:rPr>
                        <a:t> Doumi </a:t>
                      </a:r>
                      <a:endParaRPr lang="en-US" sz="1050" dirty="0">
                        <a:effectLst/>
                        <a:latin typeface="Corbel" panose="020B0503020204020204" pitchFamily="34" charset="0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14300" marR="11430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405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7260975" cy="3991927"/>
          </a:xfrm>
        </p:spPr>
        <p:txBody>
          <a:bodyPr/>
          <a:lstStyle/>
          <a:p>
            <a:r>
              <a:rPr lang="en-US" sz="2400" b="1" dirty="0"/>
              <a:t>Natural Language Processing (NLP) </a:t>
            </a:r>
            <a:r>
              <a:rPr lang="en-US" sz="2400" dirty="0"/>
              <a:t>helps computers understand human </a:t>
            </a:r>
            <a:r>
              <a:rPr lang="en-US" sz="2400" dirty="0" smtClean="0"/>
              <a:t>language.</a:t>
            </a:r>
          </a:p>
          <a:p>
            <a:pPr marL="0" indent="0">
              <a:buNone/>
            </a:pPr>
            <a:r>
              <a:rPr lang="en-US" sz="2400" dirty="0" smtClean="0"/>
              <a:t>One </a:t>
            </a:r>
            <a:r>
              <a:rPr lang="en-US" sz="2400" dirty="0"/>
              <a:t>common NLP task is sentiment </a:t>
            </a:r>
            <a:r>
              <a:rPr lang="en-US" sz="2400" dirty="0" smtClean="0"/>
              <a:t>analysis</a:t>
            </a:r>
            <a:r>
              <a:rPr lang="ar-AE" sz="2400" dirty="0" smtClean="0"/>
              <a:t>:</a:t>
            </a:r>
            <a:endParaRPr lang="en-US" sz="2400" dirty="0"/>
          </a:p>
          <a:p>
            <a:r>
              <a:rPr lang="en-US" sz="2400" b="1" dirty="0"/>
              <a:t>Sentiment analysis </a:t>
            </a:r>
            <a:r>
              <a:rPr lang="en-US" sz="2400" dirty="0"/>
              <a:t>identifies emotions in </a:t>
            </a:r>
            <a:r>
              <a:rPr lang="en-US" sz="2400" dirty="0" smtClean="0"/>
              <a:t>text ,It </a:t>
            </a:r>
            <a:r>
              <a:rPr lang="en-US" sz="2400" dirty="0"/>
              <a:t>classifies text </a:t>
            </a:r>
            <a:r>
              <a:rPr lang="en-US" sz="2400" dirty="0" smtClean="0"/>
              <a:t>into</a:t>
            </a:r>
            <a:r>
              <a:rPr lang="ar-AE" sz="2400" dirty="0" smtClean="0"/>
              <a:t> 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00B050"/>
                </a:solidFill>
              </a:rPr>
              <a:t>positive</a:t>
            </a:r>
            <a:r>
              <a:rPr lang="ar-AE" sz="2400" b="1" dirty="0" smtClean="0">
                <a:solidFill>
                  <a:srgbClr val="00B050"/>
                </a:solidFill>
              </a:rPr>
              <a:t>:</a:t>
            </a:r>
            <a:r>
              <a:rPr lang="en-US" sz="2400" dirty="0"/>
              <a:t>satisfaction and good experience</a:t>
            </a:r>
            <a:endParaRPr lang="ar-AE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negative</a:t>
            </a:r>
            <a:r>
              <a:rPr lang="ar-AE" sz="2400" b="1" dirty="0" smtClean="0">
                <a:solidFill>
                  <a:srgbClr val="FF0000"/>
                </a:solidFill>
              </a:rPr>
              <a:t>:</a:t>
            </a:r>
            <a:r>
              <a:rPr lang="en-US" sz="2400" dirty="0"/>
              <a:t>complaints or dissatisfaction</a:t>
            </a:r>
            <a:endParaRPr lang="ar-AE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ar-AE" sz="2400" dirty="0"/>
              <a:t> </a:t>
            </a:r>
            <a:r>
              <a:rPr lang="en-US" sz="2400" b="1" dirty="0" smtClean="0">
                <a:solidFill>
                  <a:srgbClr val="FFCC00"/>
                </a:solidFill>
              </a:rPr>
              <a:t>neutral</a:t>
            </a:r>
            <a:r>
              <a:rPr lang="ar-AE" sz="2400" b="1" dirty="0" smtClean="0">
                <a:solidFill>
                  <a:srgbClr val="FFCC00"/>
                </a:solidFill>
              </a:rPr>
              <a:t> :</a:t>
            </a:r>
            <a:r>
              <a:rPr lang="en-US" sz="2400" dirty="0" smtClean="0"/>
              <a:t>no </a:t>
            </a:r>
            <a:r>
              <a:rPr lang="en-US" sz="2400" dirty="0"/>
              <a:t>strong emotional </a:t>
            </a:r>
            <a:r>
              <a:rPr lang="en-US" sz="2400" dirty="0" smtClean="0"/>
              <a:t>expression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Sentiment analysis concept. Flat vector illustration 41170238 Vector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775" y="2057402"/>
            <a:ext cx="4245225" cy="412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8769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Why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1876509"/>
            <a:ext cx="11198225" cy="4724315"/>
          </a:xfrm>
        </p:spPr>
        <p:txBody>
          <a:bodyPr>
            <a:normAutofit/>
          </a:bodyPr>
          <a:lstStyle/>
          <a:p>
            <a:r>
              <a:rPr lang="en-US" dirty="0"/>
              <a:t>Text data often contains </a:t>
            </a:r>
            <a:r>
              <a:rPr lang="en-US" b="1" dirty="0"/>
              <a:t>opinions, emotions, and personal experiences</a:t>
            </a:r>
            <a:r>
              <a:rPr lang="en-US" dirty="0"/>
              <a:t> that reflect people’s attitudes.</a:t>
            </a:r>
          </a:p>
          <a:p>
            <a:r>
              <a:rPr lang="en-US" dirty="0"/>
              <a:t>Analyzing large amounts of text manually is </a:t>
            </a:r>
            <a:r>
              <a:rPr lang="en-US" b="1" dirty="0"/>
              <a:t>difficult and time-consuming</a:t>
            </a:r>
            <a:r>
              <a:rPr lang="en-US" dirty="0"/>
              <a:t>.</a:t>
            </a:r>
          </a:p>
          <a:p>
            <a:r>
              <a:rPr lang="en-US" dirty="0"/>
              <a:t>Sentiment analysis is used to </a:t>
            </a:r>
            <a:r>
              <a:rPr lang="en-US" b="1" dirty="0"/>
              <a:t>automatically identify emotions in text</a:t>
            </a:r>
            <a:r>
              <a:rPr lang="en-US" dirty="0"/>
              <a:t>.</a:t>
            </a:r>
          </a:p>
          <a:p>
            <a:r>
              <a:rPr lang="en-US" dirty="0"/>
              <a:t>It classifies text into clear categories: </a:t>
            </a:r>
            <a:r>
              <a:rPr lang="en-US" b="1" dirty="0">
                <a:solidFill>
                  <a:srgbClr val="00B050"/>
                </a:solidFill>
              </a:rPr>
              <a:t>positive</a:t>
            </a:r>
            <a:r>
              <a:rPr lang="en-US" b="1" dirty="0"/>
              <a:t>, </a:t>
            </a:r>
            <a:r>
              <a:rPr lang="en-US" b="1" dirty="0">
                <a:solidFill>
                  <a:srgbClr val="FF0000"/>
                </a:solidFill>
              </a:rPr>
              <a:t>negative</a:t>
            </a:r>
            <a:r>
              <a:rPr lang="en-US" b="1" dirty="0"/>
              <a:t>, and </a:t>
            </a:r>
            <a:r>
              <a:rPr lang="en-US" b="1" dirty="0">
                <a:solidFill>
                  <a:srgbClr val="FFCC00"/>
                </a:solidFill>
              </a:rPr>
              <a:t>neutral</a:t>
            </a:r>
            <a:r>
              <a:rPr lang="en-US" dirty="0"/>
              <a:t>.</a:t>
            </a:r>
          </a:p>
          <a:p>
            <a:r>
              <a:rPr lang="en-US" dirty="0"/>
              <a:t>In healthcare, sentiment analysis helps analyze </a:t>
            </a:r>
            <a:r>
              <a:rPr lang="en-US" b="1" dirty="0"/>
              <a:t>patient feedback</a:t>
            </a:r>
            <a:r>
              <a:rPr lang="en-US" dirty="0"/>
              <a:t> and evaluate </a:t>
            </a:r>
            <a:r>
              <a:rPr lang="en-US" b="1" dirty="0"/>
              <a:t>service quality</a:t>
            </a:r>
            <a:r>
              <a:rPr lang="en-US" dirty="0"/>
              <a:t>.</a:t>
            </a:r>
          </a:p>
          <a:p>
            <a:pPr fontAlgn="ctr"/>
            <a:r>
              <a:rPr lang="en-US" dirty="0">
                <a:solidFill>
                  <a:srgbClr val="FFFFFF"/>
                </a:solidFill>
                <a:latin typeface="Roboto"/>
              </a:rPr>
              <a:t/>
            </a:r>
            <a:br>
              <a:rPr lang="en-US" dirty="0">
                <a:solidFill>
                  <a:srgbClr val="FFFFFF"/>
                </a:solidFill>
                <a:latin typeface="Roboto"/>
              </a:rPr>
            </a:br>
            <a:endParaRPr lang="en-US" dirty="0">
              <a:solidFill>
                <a:srgbClr val="FFFFFF"/>
              </a:solidFill>
              <a:latin typeface="Roboto"/>
            </a:endParaRPr>
          </a:p>
          <a:p>
            <a:r>
              <a:rPr lang="en-US" dirty="0">
                <a:solidFill>
                  <a:srgbClr val="FFFFFF"/>
                </a:solidFill>
                <a:latin typeface="Roboto"/>
              </a:rPr>
              <a:t/>
            </a:r>
            <a:br>
              <a:rPr lang="en-US" dirty="0">
                <a:solidFill>
                  <a:srgbClr val="FFFFFF"/>
                </a:solidFill>
                <a:latin typeface="Roboto"/>
              </a:rPr>
            </a:br>
            <a:endParaRPr lang="en-US" dirty="0"/>
          </a:p>
        </p:txBody>
      </p:sp>
      <p:sp>
        <p:nvSpPr>
          <p:cNvPr id="4" name="AutoShape 2" descr="Happy Smile Face Medical Care Mental Stock Vector (Royalty Free ...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23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appy Smile Face Medical Care Mental Stock Vector (Royalty Free ...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23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Healthcare Cartoon About Doctor Telling Patient Stock Illustrati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Healthcare Cartoon About Doctor Telling Patient Stock Illustration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ealthcare Cartoon About Doctor Telling Patient Stock Illustration ..."/>
          <p:cNvSpPr>
            <a:spLocks noChangeAspect="1" noChangeArrowheads="1"/>
          </p:cNvSpPr>
          <p:nvPr/>
        </p:nvSpPr>
        <p:spPr bwMode="auto">
          <a:xfrm>
            <a:off x="460375" y="160338"/>
            <a:ext cx="304800" cy="361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2" descr="Generated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4" descr="Generated imag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052" y="4238666"/>
            <a:ext cx="6513528" cy="247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844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 </a:t>
            </a:r>
            <a:r>
              <a:rPr lang="en-US" b="1" dirty="0" smtClean="0"/>
              <a:t>collected</a:t>
            </a:r>
            <a:r>
              <a:rPr lang="ar-AE" b="1" dirty="0" smtClean="0"/>
              <a:t> </a:t>
            </a:r>
            <a:r>
              <a:rPr lang="en-US" dirty="0" smtClean="0"/>
              <a:t>from </a:t>
            </a:r>
            <a:r>
              <a:rPr lang="en-US" dirty="0"/>
              <a:t>hospital services</a:t>
            </a:r>
            <a:r>
              <a:rPr lang="en-US" dirty="0" smtClean="0"/>
              <a:t>.</a:t>
            </a:r>
            <a:r>
              <a:rPr lang="en-US" b="1" dirty="0" smtClean="0"/>
              <a:t> </a:t>
            </a:r>
            <a:r>
              <a:rPr lang="en-US" dirty="0" smtClean="0"/>
              <a:t>,Contains </a:t>
            </a:r>
            <a:r>
              <a:rPr lang="en-US" b="1" u="sng" dirty="0">
                <a:solidFill>
                  <a:schemeClr val="accent2"/>
                </a:solidFill>
              </a:rPr>
              <a:t>199</a:t>
            </a:r>
            <a:r>
              <a:rPr lang="en-US" b="1" dirty="0"/>
              <a:t> </a:t>
            </a:r>
            <a:r>
              <a:rPr lang="en-US" dirty="0"/>
              <a:t>textual </a:t>
            </a:r>
            <a:r>
              <a:rPr lang="en-US" dirty="0" err="1" smtClean="0"/>
              <a:t>entries.</a:t>
            </a:r>
            <a:r>
              <a:rPr lang="en-US" dirty="0" err="1" smtClean="0"/>
              <a:t>Each</a:t>
            </a:r>
            <a:r>
              <a:rPr lang="en-US" dirty="0" smtClean="0"/>
              <a:t> </a:t>
            </a:r>
            <a:r>
              <a:rPr lang="en-US" dirty="0"/>
              <a:t>story describes a </a:t>
            </a:r>
            <a:r>
              <a:rPr lang="en-US" b="1" dirty="0"/>
              <a:t>hospital or healthcare </a:t>
            </a:r>
            <a:r>
              <a:rPr lang="en-US" b="1" dirty="0" smtClean="0"/>
              <a:t>experience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Preprocessing steps: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-260" t="15382" r="1" b="14038"/>
          <a:stretch/>
        </p:blipFill>
        <p:spPr>
          <a:xfrm>
            <a:off x="3909726" y="3429000"/>
            <a:ext cx="730635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0800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650" y="835811"/>
            <a:ext cx="8610600" cy="1293028"/>
          </a:xfrm>
        </p:spPr>
        <p:txBody>
          <a:bodyPr/>
          <a:lstStyle/>
          <a:p>
            <a:pPr algn="l"/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1474" y="2338219"/>
            <a:ext cx="11315702" cy="399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Since the provided dataset consists of unlabeled text, we adopted an </a:t>
            </a:r>
            <a:r>
              <a:rPr lang="en-US" sz="2400" b="1" dirty="0"/>
              <a:t>Unsupervised Lexicon-Based</a:t>
            </a:r>
            <a:r>
              <a:rPr lang="en-US" sz="2400" dirty="0"/>
              <a:t> approach using the </a:t>
            </a:r>
            <a:r>
              <a:rPr lang="en-US" sz="2400" b="1" dirty="0"/>
              <a:t>TextBlob</a:t>
            </a:r>
            <a:r>
              <a:rPr lang="en-US" sz="2400" dirty="0"/>
              <a:t> library.</a:t>
            </a:r>
          </a:p>
          <a:p>
            <a:pPr lvl="0"/>
            <a:r>
              <a:rPr lang="en-US" sz="2400" b="1" dirty="0"/>
              <a:t>Sentiment Scoring:</a:t>
            </a:r>
            <a:r>
              <a:rPr lang="en-US" sz="2400" dirty="0"/>
              <a:t> The model calculates a "Polarity Score" for each story based on a predefined lexicon of adjectives and phrases. The score ranges from </a:t>
            </a:r>
            <a:r>
              <a:rPr lang="en-US" sz="2400" b="1" dirty="0"/>
              <a:t>-1.0 (Most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r>
              <a:rPr lang="en-US" sz="2400" b="1" dirty="0"/>
              <a:t>)</a:t>
            </a:r>
            <a:r>
              <a:rPr lang="en-US" sz="2400" dirty="0"/>
              <a:t> to </a:t>
            </a:r>
            <a:r>
              <a:rPr lang="en-US" sz="2400" b="1" dirty="0"/>
              <a:t>+1.0 (Most </a:t>
            </a:r>
            <a:r>
              <a:rPr lang="en-US" sz="2400" b="1" dirty="0">
                <a:solidFill>
                  <a:srgbClr val="00B050"/>
                </a:solidFill>
              </a:rPr>
              <a:t>Positive</a:t>
            </a:r>
            <a:r>
              <a:rPr lang="en-US" sz="2400" b="1" dirty="0"/>
              <a:t>)</a:t>
            </a:r>
            <a:r>
              <a:rPr lang="en-US" sz="2400" dirty="0"/>
              <a:t>.</a:t>
            </a:r>
          </a:p>
          <a:p>
            <a:pPr lvl="0"/>
            <a:r>
              <a:rPr lang="en-US" sz="2400" b="1" dirty="0"/>
              <a:t>Classification Logic:</a:t>
            </a:r>
            <a:endParaRPr lang="en-US" sz="2400" dirty="0"/>
          </a:p>
          <a:p>
            <a:pPr lvl="1"/>
            <a:r>
              <a:rPr lang="en-US" sz="2400" b="1" dirty="0">
                <a:solidFill>
                  <a:srgbClr val="00B050"/>
                </a:solidFill>
              </a:rPr>
              <a:t>Positive</a:t>
            </a:r>
            <a:r>
              <a:rPr lang="en-US" sz="2400" b="1" dirty="0"/>
              <a:t>:</a:t>
            </a:r>
            <a:r>
              <a:rPr lang="en-US" sz="2400" dirty="0"/>
              <a:t> Polarity Score &gt; 0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Negative</a:t>
            </a:r>
            <a:r>
              <a:rPr lang="en-US" sz="2400" b="1" dirty="0"/>
              <a:t>:</a:t>
            </a:r>
            <a:r>
              <a:rPr lang="en-US" sz="2400" dirty="0"/>
              <a:t> Polarity Score &lt; 0</a:t>
            </a:r>
          </a:p>
          <a:p>
            <a:pPr lvl="1"/>
            <a:r>
              <a:rPr lang="en-US" sz="2400" b="1" dirty="0">
                <a:solidFill>
                  <a:srgbClr val="FFCC00"/>
                </a:solidFill>
              </a:rPr>
              <a:t>Neutral</a:t>
            </a:r>
            <a:r>
              <a:rPr lang="en-US" sz="2400" b="1" dirty="0"/>
              <a:t>:</a:t>
            </a:r>
            <a:r>
              <a:rPr lang="en-US" sz="2400" dirty="0"/>
              <a:t> Polarity Score = 0</a:t>
            </a:r>
          </a:p>
          <a:p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rgbClr val="FFCC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3337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013" y="359853"/>
            <a:ext cx="8610600" cy="1293028"/>
          </a:xfrm>
        </p:spPr>
        <p:txBody>
          <a:bodyPr/>
          <a:lstStyle/>
          <a:p>
            <a:pPr algn="l"/>
            <a:r>
              <a:rPr lang="en-US" dirty="0" smtClean="0"/>
              <a:t>Model Validation 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648669"/>
              </p:ext>
            </p:extLst>
          </p:nvPr>
        </p:nvGraphicFramePr>
        <p:xfrm>
          <a:off x="632801" y="2997009"/>
          <a:ext cx="10873400" cy="386099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74680"/>
                <a:gridCol w="2174680"/>
                <a:gridCol w="2174680"/>
                <a:gridCol w="2174680"/>
                <a:gridCol w="2174680"/>
              </a:tblGrid>
              <a:tr h="518867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Story Snippet (First Words)</a:t>
                      </a:r>
                      <a:endParaRPr lang="en-US" sz="1400" b="1" kern="0" dirty="0">
                        <a:solidFill>
                          <a:schemeClr val="bg1"/>
                        </a:solidFill>
                        <a:effectLst/>
                        <a:latin typeface="Corbel" panose="020B0503020204020204" pitchFamily="34" charset="0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effectLst/>
                        </a:rPr>
                        <a:t>Model Prediction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effectLst/>
                        </a:rPr>
                        <a:t>Manual Label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effectLst/>
                        </a:rPr>
                        <a:t>Result</a:t>
                      </a:r>
                      <a:endParaRPr lang="en-US" sz="1400" dirty="0"/>
                    </a:p>
                  </a:txBody>
                  <a:tcPr/>
                </a:tc>
              </a:tr>
              <a:tr h="6239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"I have struggled with ocd for many years... But at Bromley..."</a:t>
                      </a:r>
                      <a:endParaRPr lang="en-US" sz="14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Match</a:t>
                      </a:r>
                      <a:endParaRPr lang="en-US" sz="1400" dirty="0"/>
                    </a:p>
                  </a:txBody>
                  <a:tcPr/>
                </a:tc>
              </a:tr>
              <a:tr h="6239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"Impossible to contact by phone... No option at all just engaged..."</a:t>
                      </a:r>
                      <a:endParaRPr lang="en-US" sz="14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Negative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Negative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Match</a:t>
                      </a:r>
                      <a:endParaRPr lang="en-US" sz="1400" dirty="0" smtClean="0"/>
                    </a:p>
                    <a:p>
                      <a:endParaRPr lang="en-US" sz="1400" dirty="0"/>
                    </a:p>
                  </a:txBody>
                  <a:tcPr/>
                </a:tc>
              </a:tr>
              <a:tr h="80592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"I felt desperate... But since having counselling... Depression has lifted."</a:t>
                      </a:r>
                      <a:endParaRPr lang="en-US" sz="14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Negative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Mismatch</a:t>
                      </a:r>
                      <a:endParaRPr lang="en-US" sz="1400" dirty="0"/>
                    </a:p>
                  </a:txBody>
                  <a:tcPr/>
                </a:tc>
              </a:tr>
              <a:tr h="72051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kern="0" dirty="0">
                          <a:solidFill>
                            <a:schemeClr val="tx1"/>
                          </a:solidFill>
                          <a:effectLst/>
                          <a:latin typeface="Corbel" panose="020B0503020204020204" pitchFamily="34" charset="0"/>
                          <a:ea typeface="Times New Roman" panose="02020603050405020304" pitchFamily="18" charset="0"/>
                          <a:cs typeface="Tahoma" panose="020B0604030504040204" pitchFamily="34" charset="0"/>
                        </a:rPr>
                        <a:t>"I had to go for a CT scan and cannot thank the staff enough..."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b="1" kern="1200" dirty="0" smtClean="0">
                          <a:solidFill>
                            <a:srgbClr val="FFCC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Neutral</a:t>
                      </a:r>
                      <a:endParaRPr lang="en-US" sz="1400" dirty="0">
                        <a:solidFill>
                          <a:srgbClr val="FFCC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Mismatch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737420" y="1652881"/>
            <a:ext cx="100682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random sample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stories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manually labeled and compared with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TextBlob predictions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validation achieved an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of 60%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that more advanced models could improve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801" y="2627677"/>
            <a:ext cx="32287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Sample Validation </a:t>
            </a:r>
            <a:r>
              <a:rPr lang="en-US" dirty="0" smtClean="0"/>
              <a:t>Results</a:t>
            </a:r>
            <a:r>
              <a:rPr lang="ar-AE" dirty="0" smtClean="0"/>
              <a:t> 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4809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23" y="3183108"/>
            <a:ext cx="8610600" cy="1293028"/>
          </a:xfrm>
        </p:spPr>
        <p:txBody>
          <a:bodyPr/>
          <a:lstStyle/>
          <a:p>
            <a:pPr algn="l"/>
            <a:r>
              <a:rPr lang="en-US" dirty="0" smtClean="0"/>
              <a:t>Results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819" y="764372"/>
            <a:ext cx="8023123" cy="6093627"/>
          </a:xfrm>
        </p:spPr>
      </p:pic>
    </p:spTree>
    <p:extLst>
      <p:ext uri="{BB962C8B-B14F-4D97-AF65-F5344CB8AC3E}">
        <p14:creationId xmlns:p14="http://schemas.microsoft.com/office/powerpoint/2010/main" val="3713724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Discussion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04787" y="2057401"/>
            <a:ext cx="11525250" cy="465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pie chart </a:t>
            </a:r>
            <a:r>
              <a:rPr lang="en-US" sz="2800" dirty="0"/>
              <a:t>shows that </a:t>
            </a:r>
            <a:r>
              <a:rPr lang="en-US" sz="2800" b="1" dirty="0">
                <a:solidFill>
                  <a:srgbClr val="00B050"/>
                </a:solidFill>
              </a:rPr>
              <a:t>positive</a:t>
            </a:r>
            <a:r>
              <a:rPr lang="en-US" sz="2800" b="1" dirty="0"/>
              <a:t> sentiment is dominant</a:t>
            </a:r>
            <a:r>
              <a:rPr lang="en-US" sz="2800" dirty="0"/>
              <a:t>, representing </a:t>
            </a:r>
            <a:r>
              <a:rPr lang="en-US" sz="2800" b="1" dirty="0"/>
              <a:t>84.4% of the stories (168 out of 199)</a:t>
            </a:r>
            <a:r>
              <a:rPr lang="en-US" sz="2800" dirty="0"/>
              <a:t>. This indicates that most patients reported </a:t>
            </a:r>
            <a:r>
              <a:rPr lang="en-US" sz="2800" b="1" dirty="0"/>
              <a:t>positive experiences</a:t>
            </a:r>
            <a:r>
              <a:rPr lang="en-US" sz="2800" dirty="0"/>
              <a:t> with hospital </a:t>
            </a:r>
            <a:r>
              <a:rPr lang="en-US" sz="2800" dirty="0" smtClean="0"/>
              <a:t>services.</a:t>
            </a:r>
            <a:endParaRPr lang="ar-AE" sz="2800" dirty="0" smtClean="0"/>
          </a:p>
          <a:p>
            <a:r>
              <a:rPr lang="en-US" sz="2800" b="1" dirty="0" smtClean="0">
                <a:solidFill>
                  <a:srgbClr val="FF0000"/>
                </a:solidFill>
              </a:rPr>
              <a:t>Negative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/>
              <a:t>sentiment accounts for </a:t>
            </a:r>
            <a:r>
              <a:rPr lang="en-US" sz="2800" b="1" dirty="0"/>
              <a:t>13.1% (26 stories)</a:t>
            </a:r>
            <a:r>
              <a:rPr lang="en-US" sz="2800" dirty="0"/>
              <a:t>, showing that dissatisfaction exists but is relatively limited. </a:t>
            </a:r>
            <a:r>
              <a:rPr lang="en-US" sz="2800" b="1" dirty="0">
                <a:solidFill>
                  <a:srgbClr val="FFC000"/>
                </a:solidFill>
              </a:rPr>
              <a:t>Neutral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responses are very low at </a:t>
            </a:r>
            <a:r>
              <a:rPr lang="en-US" sz="2800" b="1" dirty="0"/>
              <a:t>2.5% (5 stories)</a:t>
            </a:r>
            <a:r>
              <a:rPr lang="en-US" sz="2800" dirty="0"/>
              <a:t>, meaning most patients expressed clear opinions.</a:t>
            </a:r>
          </a:p>
          <a:p>
            <a:r>
              <a:rPr lang="en-US" sz="2800" dirty="0"/>
              <a:t>Overall, the results suggest that </a:t>
            </a:r>
            <a:r>
              <a:rPr lang="en-US" sz="2800" b="1" dirty="0"/>
              <a:t>hospital services are generally perceived positively</a:t>
            </a:r>
            <a:r>
              <a:rPr lang="en-US" sz="2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988" y="502752"/>
            <a:ext cx="2900361" cy="163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170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Conclusion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85762" y="2428877"/>
            <a:ext cx="1124902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b="1" dirty="0"/>
              <a:t>Sentiment analysis </a:t>
            </a:r>
            <a:r>
              <a:rPr lang="en-US" sz="2800" dirty="0"/>
              <a:t>was successfully applied to healthcare patient stories using NLP techniques. The results showed that most patient opinions were </a:t>
            </a:r>
            <a:r>
              <a:rPr lang="en-US" sz="2800" b="1" dirty="0"/>
              <a:t>positive</a:t>
            </a:r>
            <a:r>
              <a:rPr lang="en-US" sz="2800" dirty="0"/>
              <a:t>, indicating overall satisfaction with hospital services. NLP methods helped efficiently </a:t>
            </a:r>
            <a:r>
              <a:rPr lang="en-US" sz="2800" b="1" dirty="0"/>
              <a:t>analyze and summarize</a:t>
            </a:r>
            <a:r>
              <a:rPr lang="en-US" sz="2800" dirty="0"/>
              <a:t> large amounts of feedback, and the sentiment charts provided clear visual insight into patient experiences. </a:t>
            </a:r>
            <a:r>
              <a:rPr lang="en-US" sz="2800" b="1" dirty="0"/>
              <a:t>Manual validation showed that more advanced models could improve accuracy</a:t>
            </a:r>
            <a:r>
              <a:rPr lang="en-US" sz="2800" b="1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17612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514725" y="2843212"/>
            <a:ext cx="4672013" cy="1071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7200" dirty="0" smtClean="0"/>
              <a:t> </a:t>
            </a:r>
            <a:endParaRPr lang="en-US" sz="7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38" y="1231899"/>
            <a:ext cx="7667624" cy="511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130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295</TotalTime>
  <Words>518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Century Gothic</vt:lpstr>
      <vt:lpstr>Corbel</vt:lpstr>
      <vt:lpstr>Roboto</vt:lpstr>
      <vt:lpstr>Tahoma</vt:lpstr>
      <vt:lpstr>Times New Roman</vt:lpstr>
      <vt:lpstr>Vapor Trail</vt:lpstr>
      <vt:lpstr>Sentiment analysis</vt:lpstr>
      <vt:lpstr>Introduction</vt:lpstr>
      <vt:lpstr>Why Sentiment Analysis</vt:lpstr>
      <vt:lpstr>Dataset &amp; Preprocessing</vt:lpstr>
      <vt:lpstr>Methodology</vt:lpstr>
      <vt:lpstr>Model Validation </vt:lpstr>
      <vt:lpstr>Results </vt:lpstr>
      <vt:lpstr>Discussion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</dc:title>
  <dc:creator>User</dc:creator>
  <cp:lastModifiedBy>User</cp:lastModifiedBy>
  <cp:revision>26</cp:revision>
  <dcterms:created xsi:type="dcterms:W3CDTF">2025-12-27T06:27:50Z</dcterms:created>
  <dcterms:modified xsi:type="dcterms:W3CDTF">2025-12-31T14:39:12Z</dcterms:modified>
</cp:coreProperties>
</file>